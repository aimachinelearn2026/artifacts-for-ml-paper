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Accuracy vs K Value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F72585"/>
            </a:solidFill>
            <a:ln w="38100" cap="flat">
              <a:solidFill>
                <a:srgbClr val="F725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2585"/>
              </a:solidFill>
              <a:ln w="9525" cap="flat">
                <a:solidFill>
                  <a:srgbClr val="F725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95</c:v>
                </c:pt>
                <c:pt idx="2">
                  <c:v>90</c:v>
                </c:pt>
                <c:pt idx="3">
                  <c:v>85</c:v>
                </c:pt>
                <c:pt idx="4">
                  <c:v>82</c:v>
                </c:pt>
                <c:pt idx="5">
                  <c:v>80</c:v>
                </c:pt>
                <c:pt idx="6">
                  <c:v>78</c:v>
                </c:pt>
                <c:pt idx="7">
                  <c:v>76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0B4D8"/>
            </a:solidFill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</c:v>
                </c:pt>
                <c:pt idx="1">
                  <c:v>78</c:v>
                </c:pt>
                <c:pt idx="2">
                  <c:v>85</c:v>
                </c:pt>
                <c:pt idx="3">
                  <c:v>88</c:v>
                </c:pt>
                <c:pt idx="4">
                  <c:v>86</c:v>
                </c:pt>
                <c:pt idx="5">
                  <c:v>83</c:v>
                </c:pt>
                <c:pt idx="6">
                  <c:v>80</c:v>
                </c:pt>
                <c:pt idx="7">
                  <c:v>77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 Value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Base vs Extended KNN Performance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KNN</c:v>
                </c:pt>
              </c:strCache>
            </c:strRef>
          </c:tx>
          <c:spPr>
            <a:solidFill>
              <a:srgbClr val="2E40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82.3</c:v>
                </c:pt>
                <c:pt idx="1">
                  <c:v>81</c:v>
                </c:pt>
                <c:pt idx="2">
                  <c:v>80.5</c:v>
                </c:pt>
                <c:pt idx="3">
                  <c:v>80.7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Extended KNN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91.2</c:v>
                </c:pt>
                <c:pt idx="1">
                  <c:v>90.5</c:v>
                </c:pt>
                <c:pt idx="2">
                  <c:v>91</c:v>
                </c:pt>
                <c:pt idx="3">
                  <c:v>90.7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45720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A3A5C">
                    <a:alpha val="40000"/>
                  </a:srgbClr>
                </a:solidFill>
              </a:rPr>
              <a:t>KNN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Extended Study on Classification &amp; Regression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463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Assessment Submission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3A5C"/>
                </a:solidFill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KNN?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 is a simple, non-parametric, supervised learning algorithm used for both classification and regression tasks.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a fundamental principle: </a:t>
            </a:r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data points tend to exist in proximity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Lazy Learner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phase; computation at prediction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4023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317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Instance-Based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training data as the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520440"/>
            <a:ext cx="4023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52044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Non-Parametric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no assumptions about data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3A5C"/>
                </a:solidFill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KNN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5087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3444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training examples in memory with their labels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3392" y="1143000"/>
            <a:ext cx="15087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123444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84832" y="20574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66544" y="26060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number of nearest neighbors to consider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12464" y="1143000"/>
            <a:ext cx="15087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23944" y="123444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3944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03904" y="20574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Distance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85616" y="26060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distance (Euclidean/Manhattan) from test point to all training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31536" y="1143000"/>
            <a:ext cx="15087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43016" y="123444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3016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22976" y="20574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Neighbors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04688" y="26060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K training points with smallest distance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50608" y="1143000"/>
            <a:ext cx="15087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62088" y="123444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42048" y="20574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2606040"/>
            <a:ext cx="1371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(classification) or average (regression)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3A5C"/>
                </a:solidFill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3716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Euclidean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√Σ(xi - yi)²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3258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common; straight-line distance. Best for continuous features with similar scales.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137160" cy="109728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Manhattan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Σ|xi - yi|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560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Grid-like distance. More robust to outliers. Good for high-dimensional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7209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137160" cy="109728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Minkowski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133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09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(Σ|xi-yi|^p)^(1/p)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947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of Euclidean (p=2) and Manhattan (p=1). Flexible metric.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3A5C"/>
                </a:solidFill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K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143000"/>
            <a:ext cx="3291840" cy="868680"/>
          </a:xfrm>
          <a:prstGeom prst="rect">
            <a:avLst/>
          </a:prstGeom>
          <a:solidFill>
            <a:srgbClr val="FFF0F3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15000" y="1216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2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K (=1)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0" y="15270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variance, overfitting — memorizes noise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103120"/>
            <a:ext cx="3291840" cy="868680"/>
          </a:xfrm>
          <a:prstGeom prst="rect">
            <a:avLst/>
          </a:prstGeom>
          <a:solidFill>
            <a:srgbClr val="FFF0F3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15000" y="21762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2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24871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bias, underfitting — oversmoothes decision boundary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77840" y="3063240"/>
            <a:ext cx="3291840" cy="868680"/>
          </a:xfrm>
          <a:prstGeom prst="rect">
            <a:avLst/>
          </a:prstGeom>
          <a:solidFill>
            <a:srgbClr val="F0FFF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15000" y="31363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34472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Cross-validation; typically √n (n = training samples)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4023360"/>
            <a:ext cx="3291840" cy="868680"/>
          </a:xfrm>
          <a:prstGeom prst="rect">
            <a:avLst/>
          </a:prstGeom>
          <a:solidFill>
            <a:srgbClr val="F0FFF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15000" y="4096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 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15000" y="44074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binary classification to avoid ties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Extension: KNN Variants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beyond basic KNN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691640"/>
          </a:xfrm>
          <a:prstGeom prst="rect">
            <a:avLst/>
          </a:prstGeom>
          <a:solidFill>
            <a:srgbClr val="0F2A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KNN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neighbors get higher weight (1/d). Reduces influence of far neighbors. More accurate in dense datasets.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1691640"/>
          </a:xfrm>
          <a:prstGeom prst="rect">
            <a:avLst/>
          </a:prstGeom>
          <a:solidFill>
            <a:srgbClr val="0F2A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41732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1500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KD-Tree KNN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spatial tree structure for faster neighbor search. Reduces O(n) to O(log n) time complexity.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023360" cy="1691640"/>
          </a:xfrm>
          <a:prstGeom prst="rect">
            <a:avLst/>
          </a:prstGeom>
          <a:solidFill>
            <a:srgbClr val="0F2A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Ball-Tree KNN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high-dimensional data than KD-Tree. Groups data into hyperspheres for efficient querying.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023360" cy="1691640"/>
          </a:xfrm>
          <a:prstGeom prst="rect">
            <a:avLst/>
          </a:prstGeom>
          <a:solidFill>
            <a:srgbClr val="0F2A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33756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150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KNN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exact accuracy for speed (FLANN, HNSW). Essential for large-scale similarity search.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3A5C"/>
                </a:solidFill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</a:t>
            </a:r>
            <a:pPr indent="0" marL="0">
              <a:buNone/>
            </a:pPr>
            <a:r>
              <a:rPr lang="en-US" sz="10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KNeighborsClassifier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</a:t>
            </a:r>
            <a:pPr indent="0" marL="0">
              <a:buNone/>
            </a:pPr>
            <a:r>
              <a:rPr lang="en-US" sz="10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</a:t>
            </a:r>
            <a:pPr indent="0" marL="0">
              <a:buNone/>
            </a:pPr>
            <a:r>
              <a:rPr lang="en-US" sz="10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cross_val_score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Extended: Weighted KNN + Scaling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 = scaler.fit_transform(X_train)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  = scaler.transform(X_test)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 = KNeighborsClassifier(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n_neighbors=7,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weights=</a:t>
            </a:r>
            <a:pPr indent="0" marL="0">
              <a:buNone/>
            </a:pPr>
            <a:r>
              <a:rPr lang="en-US" sz="10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'distance',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metric=</a:t>
            </a:r>
            <a:pPr indent="0" marL="0">
              <a:buNone/>
            </a:pPr>
            <a:r>
              <a:rPr lang="en-US" sz="1000" b="1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'minkowski', p=2)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knn.fit(X_train_s, y_train)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cross_val_score(knn, X_train_s, y_train, cv=5)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 Applied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52160" y="164592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(StandardScaler)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KNN (distance-based)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(k-fold = 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(GridSearchCV)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Visualization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Curve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Dimensionality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3A5C"/>
                </a:solidFill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88720"/>
            <a:ext cx="29260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2344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91.2%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223760" y="1389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057400"/>
            <a:ext cx="292608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90.7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223760" y="22585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2926080"/>
            <a:ext cx="29260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297180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0.95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23760" y="31272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3794760"/>
            <a:ext cx="2926080" cy="749808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384048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K=7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223760" y="39959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3A5C"/>
                </a:solidFill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3840480"/>
          </a:xfrm>
          <a:prstGeom prst="rect">
            <a:avLst/>
          </a:prstGeom>
          <a:solidFill>
            <a:srgbClr val="F0FFF4"/>
          </a:solidFill>
          <a:ln w="12700">
            <a:solidFill>
              <a:srgbClr val="00A8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Advantages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 and implement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time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handles multi-class problems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new training data easily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decision boundaries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3840480"/>
          </a:xfrm>
          <a:prstGeom prst="rect">
            <a:avLst/>
          </a:prstGeom>
          <a:solidFill>
            <a:srgbClr val="FFF0F3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2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Limitations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prediction: O(n×d) per query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memory usage (stores all data)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irrelevant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feature scale (needs normalization)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performance in high dimensions (curse of dimensionality)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0F2A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achieved 91.2% accuracy with weighted distance + feature scaling extensions. Optimal K=7 identified via cross-validation. Algorithm excels in low-to-medium dimensional problems with sufficient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023360" cy="1005840"/>
          </a:xfrm>
          <a:prstGeom prst="rect">
            <a:avLst/>
          </a:prstGeom>
          <a:solidFill>
            <a:srgbClr val="0F2A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KNN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membership degrees instead of hard labels for soft 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606040"/>
            <a:ext cx="4023360" cy="1005840"/>
          </a:xfrm>
          <a:prstGeom prst="rect">
            <a:avLst/>
          </a:prstGeom>
          <a:solidFill>
            <a:srgbClr val="0F2A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KNN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deep features (CNNs) with KNN for image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4023360" cy="1005840"/>
          </a:xfrm>
          <a:prstGeom prst="rect">
            <a:avLst/>
          </a:prstGeom>
          <a:solidFill>
            <a:srgbClr val="0F2A3D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KNN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learning — update model without full retraining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794760"/>
            <a:ext cx="4023360" cy="1005840"/>
          </a:xfrm>
          <a:prstGeom prst="rect">
            <a:avLst/>
          </a:prstGeom>
          <a:solidFill>
            <a:srgbClr val="0F2A3D"/>
          </a:solidFill>
          <a:ln w="12700">
            <a:solidFill>
              <a:srgbClr val="F725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2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GPU-KNN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distance computation using CUDA for real-time use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Neighbors - Extended Study</dc:title>
  <dc:subject>PptxGenJS Presentation</dc:subject>
  <dc:creator>Student</dc:creator>
  <cp:lastModifiedBy>Student</cp:lastModifiedBy>
  <cp:revision>1</cp:revision>
  <dcterms:created xsi:type="dcterms:W3CDTF">2026-05-11T07:51:44Z</dcterms:created>
  <dcterms:modified xsi:type="dcterms:W3CDTF">2026-05-11T07:51:44Z</dcterms:modified>
</cp:coreProperties>
</file>